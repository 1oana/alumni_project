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7" r:id="rId4"/>
    <p:sldId id="270" r:id="rId5"/>
    <p:sldId id="273" r:id="rId6"/>
    <p:sldId id="274" r:id="rId7"/>
    <p:sldId id="275" r:id="rId8"/>
    <p:sldId id="271" r:id="rId9"/>
    <p:sldId id="272" r:id="rId10"/>
    <p:sldId id="276" r:id="rId11"/>
    <p:sldId id="279" r:id="rId12"/>
    <p:sldId id="277" r:id="rId13"/>
    <p:sldId id="278" r:id="rId14"/>
    <p:sldId id="268" r:id="rId15"/>
    <p:sldId id="280" r:id="rId16"/>
    <p:sldId id="281" r:id="rId17"/>
    <p:sldId id="286" r:id="rId18"/>
    <p:sldId id="269" r:id="rId19"/>
    <p:sldId id="282" r:id="rId20"/>
    <p:sldId id="283" r:id="rId21"/>
    <p:sldId id="284" r:id="rId22"/>
    <p:sldId id="285" r:id="rId23"/>
    <p:sldId id="287" r:id="rId24"/>
    <p:sldId id="288" r:id="rId25"/>
    <p:sldId id="289" r:id="rId26"/>
    <p:sldId id="260" r:id="rId27"/>
    <p:sldId id="26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4"/>
    <p:restoredTop sz="94775"/>
  </p:normalViewPr>
  <p:slideViewPr>
    <p:cSldViewPr snapToGrid="0">
      <p:cViewPr varScale="1">
        <p:scale>
          <a:sx n="26" d="100"/>
          <a:sy n="26" d="100"/>
        </p:scale>
        <p:origin x="232" y="2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6420B-F682-2F4C-A9F0-253FBCD32B34}" type="datetimeFigureOut">
              <a:rPr lang="en-US" smtClean="0"/>
              <a:t>4/7/25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4A85AA-CC81-5544-94DA-D7B006A22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98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A85AA-CC81-5544-94DA-D7B006A2209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642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Subject to change given name </a:t>
            </a:r>
            <a:r>
              <a:rPr lang="en-US" dirty="0" err="1"/>
              <a:t>standardisation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A85AA-CC81-5544-94DA-D7B006A2209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822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Pls stress that data will need to be quickly read by new people!!!!!!!!!!!!!!!!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550FB-C8C9-BF43-ABD5-66A6A065EBC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8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CE597-7C51-BD3B-B1C5-67FF279C44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0A2A88-D8F3-8B8B-7F2F-1CA32C6E25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78CE0-E3F8-D6BB-4272-B1A307E19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4/7/25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98799-DDB5-9A3A-D501-66B00FCDB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D934B-5519-DE6D-65AC-94D4EEDBD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692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5F0B-702F-DBCF-22ED-443FB1DE3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AAFE0-061B-6360-7D69-565DA5BA0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06806-5B23-BD7D-5618-3B0A525B1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4/7/25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B1909-AB11-67EE-5E92-A0B176559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2CE16-B0F9-68FE-E9E9-71AE27C9D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879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6B711-0AB4-1E75-6281-EA4B71FE1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2CF0D-AB35-4528-2C53-1E119BA74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8AC89-3786-AC31-9188-2FAAB199A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4/7/25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79FA9-8F04-1F14-EC98-B27E15919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48287-CA66-A583-0E5F-A0534D7E8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9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C2F87-A976-5F0B-720C-9A549C579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DFE0E-D745-B779-59B0-C811DD176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856B9-45A7-DEDD-E365-93551B361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1D9BA-125A-B254-6831-3C7AFC7EA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4/7/25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DC1CF-0922-4C10-B774-8AB1A5E97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830F2-9046-C40C-22F3-80BDBED5B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07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BC694-9703-953B-89EC-6DC018DE2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74921-3CEB-94CA-4D26-B2D6A259C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770EE-CFC7-E95C-2C69-2D7B5E488D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3F71B0-67D9-F153-9DA3-8D6CEBA38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7DB16A-A883-638B-CE8B-0A4C5DDC0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8BDF43-EA02-65B8-F4EF-1AE00B573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4/7/25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AFFE76-F6CF-9C4F-B861-06C5F14E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588323-F73E-2981-E611-FACADE5BD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008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2A020-147C-31AA-5BBE-C7A296EF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EB7CDF-9B9E-C986-7E78-7C3812EB7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4/7/25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9C9865-DE91-7665-2F62-AAD3C5656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3084B-D76D-1E9C-D394-DA21BA948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49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C13E5-F5D9-E551-F7F4-34CE5480C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4/7/25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F8781C-1D48-BF49-F95B-C2A21BB3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170C6-6064-15BD-713B-9999A6BA6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45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7A82B-95D2-1B7E-9B0C-F46C682FB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60344-5BEA-35D7-EC70-B2C6223AF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C63E0-1E57-7B66-A209-1FDC7724A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43816-256C-6D07-206B-9F24BD7AF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4/7/25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41418-5466-4C8D-EDE6-8077099AC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FED37-4072-8E7E-98A8-C1351778D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01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D17F4-16B0-797A-DA47-E5FA48E4A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D546BA-9C23-AD3D-177D-57500693F0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2176E-1B50-C4B8-E90F-17BB60777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F494D-86A1-A7DA-6B16-EBA38CB9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4/7/25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B4705-BF12-E0A1-7897-7E0E01E15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55E81-68EB-7766-911C-2291D4E4F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38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D1F5B-5B03-4EAD-0F86-047BCA93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41ECFD-62FC-DBC0-B6A2-7D3F77F8F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EED0-ABDF-B7C6-68A2-9686FC2A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4/7/25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D6CCA-1350-F313-40F1-3CDF130F4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FDAB2-93CC-F87A-790C-9373285E3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19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B96555-C02F-134E-95DF-CEE0A4C2EB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3DBE70-62B4-E10D-2203-10D59D0AF4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4A2BE-9A90-7C8E-94EB-D3631346C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4/7/25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07865-2DED-5B76-901C-A87745740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63FAB-5B48-27F0-AAAD-563BD5A88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69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899772-6EB4-F39A-2BD0-7BA30152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E01B9-9081-B569-76B6-CA2314CF8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8B809-E4AB-2889-1378-1A325FFE8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B295FE-EB51-1844-AEC4-5454C1A40D31}" type="datetimeFigureOut">
              <a:rPr lang="en-US" smtClean="0"/>
              <a:t>4/7/25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BE768-6681-4A8B-276E-1CEB77BD20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8974F-2DA5-F1D6-2F8E-6418C348C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47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A0002-726F-8DAE-1C93-EC31E6AC9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Update meetings: w/c 07/04/25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928F5F-85CD-4935-3E2A-6F0894C2B7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89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AC4A6-BC61-DAC5-8971-27976302A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7DFFA-0713-109D-BECC-56231C461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CC34D5-81AE-F011-929C-4E5E2183B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0"/>
            <a:ext cx="5842000" cy="680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059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18477-BDC4-5C4C-331F-FD25A7E98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Additions to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CECDB-24E9-E2E3-01E6-7F3740733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Supervisor dataset</a:t>
            </a:r>
          </a:p>
          <a:p>
            <a:pPr lvl="1"/>
            <a:r>
              <a:rPr lang="en-US" dirty="0"/>
              <a:t>Augmented Appendix A using ORA/SOLO</a:t>
            </a:r>
          </a:p>
          <a:p>
            <a:r>
              <a:rPr lang="en-US" dirty="0"/>
              <a:t>Extend students: end date, thesis title, supervisor</a:t>
            </a:r>
          </a:p>
          <a:p>
            <a:pPr lvl="1"/>
            <a:r>
              <a:rPr lang="en-US" dirty="0"/>
              <a:t>Appendix A records supervisors – at least correct to the time of print</a:t>
            </a:r>
          </a:p>
          <a:p>
            <a:pPr lvl="1"/>
            <a:r>
              <a:rPr lang="en-US" dirty="0"/>
              <a:t>Confirm final titles / supervisors on SOLO</a:t>
            </a:r>
          </a:p>
          <a:p>
            <a:pPr lvl="2"/>
            <a:r>
              <a:rPr lang="en-US" dirty="0"/>
              <a:t>Manual and slow…</a:t>
            </a:r>
          </a:p>
          <a:p>
            <a:pPr lvl="1"/>
            <a:r>
              <a:rPr lang="en-US" dirty="0"/>
              <a:t>Thesis publication date as a proxy for end date</a:t>
            </a:r>
          </a:p>
        </p:txBody>
      </p:sp>
    </p:spTree>
    <p:extLst>
      <p:ext uri="{BB962C8B-B14F-4D97-AF65-F5344CB8AC3E}">
        <p14:creationId xmlns:p14="http://schemas.microsoft.com/office/powerpoint/2010/main" val="1134310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B2768-3C0F-DC13-F2F0-32A59A8B0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1B27D-56E3-8DBC-788F-3E5822CF8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Course, cohort</a:t>
            </a:r>
          </a:p>
          <a:p>
            <a:r>
              <a:rPr lang="en-US" dirty="0"/>
              <a:t>Study before DTC – location, university, subject, subject category</a:t>
            </a:r>
          </a:p>
          <a:p>
            <a:pPr lvl="1"/>
            <a:r>
              <a:rPr lang="en-US" dirty="0"/>
              <a:t>UG and PG: 61% of students have a PG degree found</a:t>
            </a:r>
          </a:p>
          <a:p>
            <a:r>
              <a:rPr lang="en-US" dirty="0"/>
              <a:t>Current location &amp; job</a:t>
            </a:r>
          </a:p>
          <a:p>
            <a:pPr lvl="1"/>
            <a:r>
              <a:rPr lang="en-US" dirty="0"/>
              <a:t>Covered later</a:t>
            </a:r>
          </a:p>
          <a:p>
            <a:r>
              <a:rPr lang="en-US" dirty="0"/>
              <a:t>Thesis titles &amp; supervisors (from Appendix &amp; ORA), submission dates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912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7388D92-FD45-4984-009D-DE05180EDF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5400" y="358913"/>
            <a:ext cx="7061200" cy="614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90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12F9D9-234D-027F-5DC4-B2DA2F02E1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467" y="0"/>
            <a:ext cx="115190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853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18257-D999-994A-02E2-B224FB141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E2725-4D20-ED6B-41BD-73692BB72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FF6E95-F0AB-21B9-C8A3-0CAC8ED91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392" y="1253330"/>
            <a:ext cx="5801784" cy="43513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29ED90-61BF-0AA5-9233-4C52B512E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4" y="1154111"/>
            <a:ext cx="5934076" cy="445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86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12D8E-FD5B-14EB-983A-560A59143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5438-576D-0D7D-BE1E-21F097115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350" y="6387061"/>
            <a:ext cx="6966650" cy="863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* alternatively… Oxbridge of just Oxford</a:t>
            </a:r>
          </a:p>
        </p:txBody>
      </p:sp>
      <p:pic>
        <p:nvPicPr>
          <p:cNvPr id="4" name="Picture 3" descr="A colorful lines and stripes&#10;&#10;AI-generated content may be incorrect.">
            <a:extLst>
              <a:ext uri="{FF2B5EF4-FFF2-40B4-BE49-F238E27FC236}">
                <a16:creationId xmlns:a16="http://schemas.microsoft.com/office/drawing/2014/main" id="{52F77E82-F3F5-0C53-DC32-677CC5DE8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-66675"/>
            <a:ext cx="9658350" cy="645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82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23D80-853F-AF13-A2D7-8B69BFC87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1E388-8CA9-1F12-42C0-1BD17F4C0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5102D0-D0A7-EC21-EF0C-DA5F58162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81037"/>
            <a:ext cx="12057023" cy="511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044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B4796-2F5C-D39E-3B19-75A69B5E8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D6E767-BAD1-DC35-C32F-BC1928A47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89CC4D-DD26-AF68-0712-6C75EE0F0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800" y="28726"/>
            <a:ext cx="8788400" cy="680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130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CFBA8-07D7-CDF6-6C1B-93C4DEB5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A8C10-FBD3-FEFE-4DAA-7D5073472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2D3D4D-7010-9B4C-65AE-4BC7B0C14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175" y="0"/>
            <a:ext cx="8121650" cy="684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073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5A3CC-3ECA-5F73-8224-36DD85F53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DTC graduates who went on to supervise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63571-B22E-81B1-7D2D-98AE64F4A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83000" cy="46672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Alexander Fletcher</a:t>
            </a:r>
          </a:p>
          <a:p>
            <a:r>
              <a:rPr lang="en-US" dirty="0"/>
              <a:t>Anthony Bradley</a:t>
            </a:r>
          </a:p>
          <a:p>
            <a:r>
              <a:rPr lang="en-US" dirty="0"/>
              <a:t>Ben Lambert</a:t>
            </a:r>
          </a:p>
          <a:p>
            <a:r>
              <a:rPr lang="en-US" dirty="0"/>
              <a:t>Chris Yau</a:t>
            </a:r>
          </a:p>
          <a:p>
            <a:r>
              <a:rPr lang="en-US" dirty="0"/>
              <a:t>Claire Marks</a:t>
            </a:r>
          </a:p>
          <a:p>
            <a:r>
              <a:rPr lang="en-US" dirty="0"/>
              <a:t>Daniel Wilson</a:t>
            </a:r>
          </a:p>
          <a:p>
            <a:r>
              <a:rPr lang="en-US" dirty="0"/>
              <a:t>Gary Mirams</a:t>
            </a:r>
          </a:p>
          <a:p>
            <a:r>
              <a:rPr lang="en-US" dirty="0"/>
              <a:t>Jack Miller</a:t>
            </a:r>
          </a:p>
          <a:p>
            <a:r>
              <a:rPr lang="en-US" dirty="0"/>
              <a:t>Jacob Bush</a:t>
            </a:r>
          </a:p>
          <a:p>
            <a:r>
              <a:rPr lang="en-US" dirty="0"/>
              <a:t>James Anderson</a:t>
            </a:r>
          </a:p>
          <a:p>
            <a:r>
              <a:rPr lang="en-US" sz="2800" dirty="0"/>
              <a:t>Frederik Lange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E2003-1665-D536-C399-EC48F57B4C77}"/>
              </a:ext>
            </a:extLst>
          </p:cNvPr>
          <p:cNvSpPr txBox="1"/>
          <p:nvPr/>
        </p:nvSpPr>
        <p:spPr>
          <a:xfrm>
            <a:off x="4521200" y="1825625"/>
            <a:ext cx="3149602" cy="406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James Osborne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600" dirty="0" err="1"/>
              <a:t>Jinwoo</a:t>
            </a:r>
            <a:r>
              <a:rPr lang="en-US" sz="2600" dirty="0"/>
              <a:t> </a:t>
            </a:r>
            <a:r>
              <a:rPr lang="en-US" sz="2600" dirty="0" err="1"/>
              <a:t>Leem</a:t>
            </a:r>
            <a:endParaRPr lang="en-US" sz="2600" dirty="0"/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Ken Wang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Kit Yates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Lucy Hutchinson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Martin Bishop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600" dirty="0" err="1"/>
              <a:t>Rafel</a:t>
            </a:r>
            <a:r>
              <a:rPr lang="en-US" sz="2600" dirty="0"/>
              <a:t> Bordas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Sara-Jane Dunn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600" dirty="0" err="1"/>
              <a:t>Saulo</a:t>
            </a:r>
            <a:r>
              <a:rPr lang="en-US" sz="2600" dirty="0"/>
              <a:t> de Oliveira</a:t>
            </a: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Xavier </a:t>
            </a:r>
            <a:r>
              <a:rPr lang="en-US" sz="2600" dirty="0" err="1"/>
              <a:t>Didelot</a:t>
            </a:r>
            <a:endParaRPr lang="en-US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5C48B-68CF-CCD1-CE0E-06FAB24FDD82}"/>
              </a:ext>
            </a:extLst>
          </p:cNvPr>
          <p:cNvSpPr txBox="1"/>
          <p:nvPr/>
        </p:nvSpPr>
        <p:spPr>
          <a:xfrm>
            <a:off x="7924800" y="1825625"/>
            <a:ext cx="3149602" cy="2051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70000"/>
              </a:lnSpc>
              <a:spcBef>
                <a:spcPts val="1000"/>
              </a:spcBef>
            </a:pPr>
            <a:r>
              <a:rPr lang="en-US" sz="2600" dirty="0"/>
              <a:t>That’s 21 out of 1037 students from 2002-2019</a:t>
            </a:r>
          </a:p>
          <a:p>
            <a:pPr>
              <a:lnSpc>
                <a:spcPct val="70000"/>
              </a:lnSpc>
              <a:spcBef>
                <a:spcPts val="1000"/>
              </a:spcBef>
            </a:pPr>
            <a:endParaRPr lang="en-US" sz="2600" dirty="0"/>
          </a:p>
          <a:p>
            <a:pPr>
              <a:lnSpc>
                <a:spcPct val="70000"/>
              </a:lnSpc>
              <a:spcBef>
                <a:spcPts val="1000"/>
              </a:spcBef>
            </a:pPr>
            <a:r>
              <a:rPr lang="en-US" sz="2600" dirty="0"/>
              <a:t>They supervised 53 times between them</a:t>
            </a:r>
          </a:p>
        </p:txBody>
      </p:sp>
    </p:spTree>
    <p:extLst>
      <p:ext uri="{BB962C8B-B14F-4D97-AF65-F5344CB8AC3E}">
        <p14:creationId xmlns:p14="http://schemas.microsoft.com/office/powerpoint/2010/main" val="18381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4BEE6-93FC-6A6D-5EAD-695875CED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C8E25-1B75-A033-4152-2A124D940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339B0-0497-BD0A-DD54-B0A26879A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552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27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76AD-0DBF-008B-A586-B31420676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4F4C7-B8BA-68B0-A23A-D876C096C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2-part process:</a:t>
            </a:r>
          </a:p>
          <a:p>
            <a:pPr lvl="1"/>
            <a:r>
              <a:rPr lang="en-US" dirty="0"/>
              <a:t>Manual scrape by the boys (2002-mid2017)</a:t>
            </a:r>
          </a:p>
          <a:p>
            <a:pPr lvl="2"/>
            <a:r>
              <a:rPr lang="en-US" dirty="0"/>
              <a:t>Lacks location and sector for each job</a:t>
            </a:r>
          </a:p>
          <a:p>
            <a:pPr lvl="1"/>
            <a:r>
              <a:rPr lang="en-US" dirty="0"/>
              <a:t>Automated scrape by me (mid2017-2019)</a:t>
            </a:r>
          </a:p>
          <a:p>
            <a:pPr lvl="2"/>
            <a:r>
              <a:rPr lang="en-US" dirty="0"/>
              <a:t>Had unstandardized sectors</a:t>
            </a:r>
          </a:p>
          <a:p>
            <a:r>
              <a:rPr lang="en-US" dirty="0"/>
              <a:t>Job title, company, location, sector, dates</a:t>
            </a:r>
          </a:p>
          <a:p>
            <a:r>
              <a:rPr lang="en-US" dirty="0"/>
              <a:t>(NB lots more data than what I am about to show (</a:t>
            </a:r>
            <a:r>
              <a:rPr lang="en-US" dirty="0" err="1"/>
              <a:t>eg</a:t>
            </a:r>
            <a:r>
              <a:rPr lang="en-US" dirty="0"/>
              <a:t> location), but trying to keep it interesting)</a:t>
            </a:r>
          </a:p>
        </p:txBody>
      </p:sp>
    </p:spTree>
    <p:extLst>
      <p:ext uri="{BB962C8B-B14F-4D97-AF65-F5344CB8AC3E}">
        <p14:creationId xmlns:p14="http://schemas.microsoft.com/office/powerpoint/2010/main" val="777702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21B76-B62A-1CCA-B24E-055C6FB8D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6E046-D63F-7133-BF5B-58DB6EF11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88000E-C93D-8B4A-138E-3DFD181DD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70" y="365125"/>
            <a:ext cx="6770041" cy="47164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21A951-6398-CB90-4517-7611E375C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511" y="3056732"/>
            <a:ext cx="4583306" cy="312023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E55928-A466-75FE-9134-6BD46BA8DBFB}"/>
              </a:ext>
            </a:extLst>
          </p:cNvPr>
          <p:cNvSpPr txBox="1"/>
          <p:nvPr/>
        </p:nvSpPr>
        <p:spPr>
          <a:xfrm>
            <a:off x="7360355" y="3832017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IN</a:t>
            </a:r>
          </a:p>
          <a:p>
            <a:pPr algn="ctr"/>
            <a:r>
              <a:rPr lang="en-US" sz="4800" b="1" dirty="0"/>
              <a:t>PROGRESS</a:t>
            </a:r>
          </a:p>
        </p:txBody>
      </p:sp>
    </p:spTree>
    <p:extLst>
      <p:ext uri="{BB962C8B-B14F-4D97-AF65-F5344CB8AC3E}">
        <p14:creationId xmlns:p14="http://schemas.microsoft.com/office/powerpoint/2010/main" val="2116917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CFDF3-5402-F256-EC67-00EA6F8D6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29676-2A96-3A84-CEB3-53E3C1FFD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E72DF1-02AE-4FB5-D95D-0CEA29769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582" y="0"/>
            <a:ext cx="96608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585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A0CB-83FF-63A0-A240-534D28D9E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93A08-4A7A-D698-9E49-90CAA16B9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063BC2-8B55-E4B7-455D-96DC80A26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289051"/>
            <a:ext cx="5461000" cy="60538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129D55-56AF-B08D-20A2-16B3C3210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89050"/>
            <a:ext cx="5460999" cy="641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583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5BE4D-2F6D-994E-DE83-546B3E570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57E7C-FD24-A4E6-E814-9E383027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B9789-56A8-3025-1EB9-81CC22EB9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2-part process:</a:t>
            </a:r>
          </a:p>
          <a:p>
            <a:pPr lvl="1"/>
            <a:r>
              <a:rPr lang="en-US" dirty="0"/>
              <a:t>Find ORCIDs</a:t>
            </a:r>
          </a:p>
          <a:p>
            <a:pPr lvl="1"/>
            <a:r>
              <a:rPr lang="en-US" dirty="0"/>
              <a:t>Look up that ORCID’s papers</a:t>
            </a:r>
          </a:p>
          <a:p>
            <a:r>
              <a:rPr lang="en-US" dirty="0"/>
              <a:t>What I’ve done:</a:t>
            </a:r>
          </a:p>
          <a:p>
            <a:pPr lvl="1"/>
            <a:r>
              <a:rPr lang="en-US" dirty="0"/>
              <a:t>Look up everyone’s ORCIDs</a:t>
            </a:r>
          </a:p>
          <a:p>
            <a:pPr lvl="2"/>
            <a:r>
              <a:rPr lang="en-US" dirty="0"/>
              <a:t>Check accuracy of each ORCID – some people I simply can’t find</a:t>
            </a:r>
          </a:p>
          <a:p>
            <a:pPr lvl="1"/>
            <a:r>
              <a:rPr lang="en-US" dirty="0"/>
              <a:t>Look up every paper written by each ORCID</a:t>
            </a:r>
          </a:p>
          <a:p>
            <a:pPr lvl="1"/>
            <a:r>
              <a:rPr lang="en-US" dirty="0"/>
              <a:t>Associated metadata: citations, h-index </a:t>
            </a:r>
            <a:r>
              <a:rPr lang="en-US" dirty="0" err="1"/>
              <a:t>etc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379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CEB9-07D2-0CF4-B0F7-8D2F4F9B7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095FC-D515-687B-53F1-68B631638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FB8B0-1FA4-85A2-D5E7-1903F97CA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22" y="0"/>
            <a:ext cx="105553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40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5F3AC-1AD5-479A-3A96-B957D240E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6B677-18F5-8816-D6E7-C141C184E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A1BAE4-F6A0-ADDB-0D3B-89772B046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9426"/>
            <a:ext cx="10007600" cy="683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720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8E4D-008C-C604-0AA8-8495F1F43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B24BA-D9C2-B74D-DF68-6B2C2ECB7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5ACA16-5932-19CD-1918-A29F69897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0"/>
            <a:ext cx="9931400" cy="687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505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D8EB9-08B4-D730-D883-2578EDD64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30837"/>
            <a:ext cx="12192000" cy="1427163"/>
          </a:xfrm>
        </p:spPr>
        <p:txBody>
          <a:bodyPr/>
          <a:lstStyle/>
          <a:p>
            <a:r>
              <a:rPr lang="en-US" dirty="0"/>
              <a:t>Next: find a dataset to compare these to…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A2E49E-156A-C83E-25B9-BD4C105A43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533400"/>
            <a:ext cx="6156850" cy="5003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459293-95CD-8D72-340D-C68DD3D4B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3400"/>
            <a:ext cx="6243872" cy="500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467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B12E2-73A3-A4E5-8D2B-35B2893D1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4B7F2-9D05-B2C5-4E46-20BD1989C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Control groups/Benchmarking</a:t>
            </a:r>
          </a:p>
          <a:p>
            <a:pPr lvl="1"/>
            <a:r>
              <a:rPr lang="en-US" dirty="0"/>
              <a:t>Google scholar overall metrics</a:t>
            </a:r>
          </a:p>
          <a:p>
            <a:pPr lvl="1"/>
            <a:r>
              <a:rPr lang="en-US" dirty="0"/>
              <a:t>Jobs</a:t>
            </a:r>
          </a:p>
          <a:p>
            <a:pPr lvl="2"/>
            <a:r>
              <a:rPr lang="en-US" dirty="0" err="1"/>
              <a:t>Standardise</a:t>
            </a:r>
            <a:r>
              <a:rPr lang="en-US" dirty="0"/>
              <a:t> titles to get a sense of progression</a:t>
            </a:r>
          </a:p>
          <a:p>
            <a:pPr lvl="2"/>
            <a:r>
              <a:rPr lang="en-US" dirty="0"/>
              <a:t>Map job sectors in time</a:t>
            </a:r>
          </a:p>
          <a:p>
            <a:pPr lvl="2"/>
            <a:r>
              <a:rPr lang="en-US" dirty="0"/>
              <a:t>Employment rate</a:t>
            </a:r>
          </a:p>
          <a:p>
            <a:r>
              <a:rPr lang="en-US" dirty="0"/>
              <a:t>Dropout rate</a:t>
            </a:r>
          </a:p>
          <a:p>
            <a:r>
              <a:rPr lang="en-US" dirty="0"/>
              <a:t>Specific metrics (and confounders?)</a:t>
            </a:r>
          </a:p>
          <a:p>
            <a:pPr lvl="1"/>
            <a:r>
              <a:rPr lang="en-US" dirty="0"/>
              <a:t>Obvious for papers</a:t>
            </a:r>
          </a:p>
          <a:p>
            <a:pPr lvl="1"/>
            <a:r>
              <a:rPr lang="en-US" dirty="0"/>
              <a:t>Employment rate, leadership</a:t>
            </a:r>
          </a:p>
          <a:p>
            <a:pPr lvl="1"/>
            <a:r>
              <a:rPr lang="en-US" dirty="0"/>
              <a:t>Time to reach a certain milestone?</a:t>
            </a:r>
          </a:p>
          <a:p>
            <a:pPr lvl="2"/>
            <a:r>
              <a:rPr lang="en-US" dirty="0" err="1"/>
              <a:t>Eg</a:t>
            </a:r>
            <a:r>
              <a:rPr lang="en-US" dirty="0"/>
              <a:t> professor – normalized by country!</a:t>
            </a:r>
          </a:p>
        </p:txBody>
      </p:sp>
    </p:spTree>
    <p:extLst>
      <p:ext uri="{BB962C8B-B14F-4D97-AF65-F5344CB8AC3E}">
        <p14:creationId xmlns:p14="http://schemas.microsoft.com/office/powerpoint/2010/main" val="2696439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22F1D-81DB-9A57-C967-848005561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818DE-7892-2BE2-91ED-04C6EEAA3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BC7DB-2D35-A284-7F59-C9D0D57C4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Specific metrics (and confounders?)</a:t>
            </a:r>
          </a:p>
          <a:p>
            <a:pPr lvl="1"/>
            <a:r>
              <a:rPr lang="en-US" dirty="0"/>
              <a:t>Obvious for papers</a:t>
            </a:r>
          </a:p>
          <a:p>
            <a:pPr lvl="1"/>
            <a:r>
              <a:rPr lang="en-US" dirty="0"/>
              <a:t>Employment rate, leadership</a:t>
            </a:r>
          </a:p>
          <a:p>
            <a:pPr lvl="1"/>
            <a:r>
              <a:rPr lang="en-US" dirty="0"/>
              <a:t>Time to reach a certain milestone?</a:t>
            </a:r>
          </a:p>
          <a:p>
            <a:pPr lvl="2"/>
            <a:r>
              <a:rPr lang="en-US" dirty="0" err="1"/>
              <a:t>Eg</a:t>
            </a:r>
            <a:r>
              <a:rPr lang="en-US" dirty="0"/>
              <a:t> professor – normalized by country!</a:t>
            </a:r>
          </a:p>
          <a:p>
            <a:r>
              <a:rPr lang="en-US" dirty="0"/>
              <a:t>Networks that arise</a:t>
            </a:r>
          </a:p>
          <a:p>
            <a:pPr lvl="1"/>
            <a:r>
              <a:rPr lang="en-US" dirty="0"/>
              <a:t>Shared employers</a:t>
            </a:r>
          </a:p>
          <a:p>
            <a:pPr lvl="1"/>
            <a:r>
              <a:rPr lang="en-US" dirty="0" err="1"/>
              <a:t>Coauthorship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Shared supervisors?</a:t>
            </a:r>
          </a:p>
          <a:p>
            <a:r>
              <a:rPr lang="en-US" dirty="0"/>
              <a:t>Case studies</a:t>
            </a:r>
          </a:p>
          <a:p>
            <a:pPr lvl="1"/>
            <a:r>
              <a:rPr lang="en-US" dirty="0"/>
              <a:t>Entrepreneurs</a:t>
            </a:r>
          </a:p>
          <a:p>
            <a:pPr lvl="1"/>
            <a:r>
              <a:rPr lang="en-US" dirty="0"/>
              <a:t>Pharma pathways?</a:t>
            </a:r>
          </a:p>
        </p:txBody>
      </p:sp>
    </p:spTree>
    <p:extLst>
      <p:ext uri="{BB962C8B-B14F-4D97-AF65-F5344CB8AC3E}">
        <p14:creationId xmlns:p14="http://schemas.microsoft.com/office/powerpoint/2010/main" val="1504157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58CBC-7133-C35D-249D-89677858B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9BBC7-E984-60E0-75E0-EE6879FC8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CEDB9F-1E92-0246-30C8-2FEB6EABC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0" y="0"/>
            <a:ext cx="8496300" cy="671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4590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1AFD0-BD28-7857-215D-E75F6A1B2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future: maintaining a publications 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B4355-480F-3E66-D56B-76F6361F5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Ask people for </a:t>
            </a:r>
            <a:r>
              <a:rPr lang="en-US" dirty="0" err="1"/>
              <a:t>ORCiD</a:t>
            </a:r>
            <a:r>
              <a:rPr lang="en-US" dirty="0"/>
              <a:t> on joining</a:t>
            </a:r>
          </a:p>
          <a:p>
            <a:pPr lvl="1"/>
            <a:r>
              <a:rPr lang="en-US" dirty="0"/>
              <a:t>I’m pretty sure some people don’t have one at all</a:t>
            </a:r>
          </a:p>
          <a:p>
            <a:r>
              <a:rPr lang="en-US" dirty="0"/>
              <a:t>Code is free and quick to run</a:t>
            </a:r>
          </a:p>
        </p:txBody>
      </p:sp>
    </p:spTree>
    <p:extLst>
      <p:ext uri="{BB962C8B-B14F-4D97-AF65-F5344CB8AC3E}">
        <p14:creationId xmlns:p14="http://schemas.microsoft.com/office/powerpoint/2010/main" val="28792394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0CDF4-B2C4-7ADA-1181-467F3374A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13040-D597-2E4A-B6A6-61E55E5AC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future: maintaining a jobs DB (old slide)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BD27D-AAF6-9739-2BD4-432FA5CB9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Trickier</a:t>
            </a:r>
          </a:p>
          <a:p>
            <a:r>
              <a:rPr lang="en-US" dirty="0"/>
              <a:t>Ask people for their LinkedIn when they join?</a:t>
            </a:r>
          </a:p>
          <a:p>
            <a:pPr lvl="1"/>
            <a:r>
              <a:rPr lang="en-US" dirty="0"/>
              <a:t>Finding </a:t>
            </a:r>
            <a:r>
              <a:rPr lang="en-US" dirty="0" err="1"/>
              <a:t>LinkedIns</a:t>
            </a:r>
            <a:r>
              <a:rPr lang="en-US" dirty="0"/>
              <a:t> is a </a:t>
            </a:r>
            <a:r>
              <a:rPr lang="en-US" dirty="0" err="1"/>
              <a:t>timesink</a:t>
            </a:r>
            <a:endParaRPr lang="en-US" dirty="0"/>
          </a:p>
          <a:p>
            <a:r>
              <a:rPr lang="en-US" dirty="0"/>
              <a:t>Free automated scripts are very limited</a:t>
            </a:r>
          </a:p>
          <a:p>
            <a:r>
              <a:rPr lang="en-US" dirty="0"/>
              <a:t>LinkedIn has their own API but (as far as I can tell) you need every user’s permission (they authenticate your access on their account) to look them up</a:t>
            </a:r>
          </a:p>
          <a:p>
            <a:r>
              <a:rPr lang="en-US" dirty="0"/>
              <a:t>I would also suggest asking students to join the group OR declare they specifically don’t want to </a:t>
            </a:r>
          </a:p>
        </p:txBody>
      </p:sp>
    </p:spTree>
    <p:extLst>
      <p:ext uri="{BB962C8B-B14F-4D97-AF65-F5344CB8AC3E}">
        <p14:creationId xmlns:p14="http://schemas.microsoft.com/office/powerpoint/2010/main" val="144073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4013</TotalTime>
  <Words>536</Words>
  <Application>Microsoft Macintosh PowerPoint</Application>
  <PresentationFormat>Widescreen</PresentationFormat>
  <Paragraphs>104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Update meetings: w/c 07/04/25</vt:lpstr>
      <vt:lpstr>PowerPoint Presentation</vt:lpstr>
      <vt:lpstr>Additions to dataset</vt:lpstr>
      <vt:lpstr>Students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DTC graduates who went on to supervise</vt:lpstr>
      <vt:lpstr>PowerPoint Presentation</vt:lpstr>
      <vt:lpstr>Jobs…</vt:lpstr>
      <vt:lpstr>PowerPoint Presentation</vt:lpstr>
      <vt:lpstr>PowerPoint Presentation</vt:lpstr>
      <vt:lpstr>PowerPoint Presentation</vt:lpstr>
      <vt:lpstr>Papers…</vt:lpstr>
      <vt:lpstr>PowerPoint Presentation</vt:lpstr>
      <vt:lpstr>PowerPoint Presentation</vt:lpstr>
      <vt:lpstr>PowerPoint Presentation</vt:lpstr>
      <vt:lpstr>Next: find a dataset to compare these to… </vt:lpstr>
      <vt:lpstr>Next…</vt:lpstr>
      <vt:lpstr>Next…</vt:lpstr>
      <vt:lpstr>PowerPoint Presentation</vt:lpstr>
      <vt:lpstr>The future: maintaining a publications DB</vt:lpstr>
      <vt:lpstr>The future: maintaining a jobs DB (old slide)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Ioana Duta</dc:creator>
  <cp:lastModifiedBy>Ioana Duta</cp:lastModifiedBy>
  <cp:revision>2</cp:revision>
  <dcterms:created xsi:type="dcterms:W3CDTF">2025-04-07T14:39:15Z</dcterms:created>
  <dcterms:modified xsi:type="dcterms:W3CDTF">2025-04-10T09:32:26Z</dcterms:modified>
</cp:coreProperties>
</file>