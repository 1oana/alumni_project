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7" r:id="rId3"/>
    <p:sldId id="288" r:id="rId4"/>
    <p:sldId id="290" r:id="rId5"/>
    <p:sldId id="291" r:id="rId6"/>
    <p:sldId id="271" r:id="rId7"/>
    <p:sldId id="268" r:id="rId8"/>
    <p:sldId id="293" r:id="rId9"/>
    <p:sldId id="294" r:id="rId10"/>
    <p:sldId id="295" r:id="rId11"/>
    <p:sldId id="281" r:id="rId12"/>
    <p:sldId id="286" r:id="rId13"/>
    <p:sldId id="298" r:id="rId14"/>
    <p:sldId id="292" r:id="rId15"/>
    <p:sldId id="296" r:id="rId16"/>
    <p:sldId id="297" r:id="rId17"/>
    <p:sldId id="299" r:id="rId18"/>
    <p:sldId id="300" r:id="rId19"/>
    <p:sldId id="301" r:id="rId20"/>
    <p:sldId id="269" r:id="rId21"/>
    <p:sldId id="28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34"/>
    <p:restoredTop sz="94826"/>
  </p:normalViewPr>
  <p:slideViewPr>
    <p:cSldViewPr snapToGrid="0">
      <p:cViewPr varScale="1">
        <p:scale>
          <a:sx n="132" d="100"/>
          <a:sy n="132" d="100"/>
        </p:scale>
        <p:origin x="16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6420B-F682-2F4C-A9F0-253FBCD32B34}" type="datetimeFigureOut">
              <a:rPr lang="en-US" smtClean="0"/>
              <a:t>5/8/25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4A85AA-CC81-5544-94DA-D7B006A22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98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E597-7C51-BD3B-B1C5-67FF279C4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0A2A88-D8F3-8B8B-7F2F-1CA32C6E2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78CE0-E3F8-D6BB-4272-B1A307E1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98799-DDB5-9A3A-D501-66B00FCD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D934B-5519-DE6D-65AC-94D4EEDB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692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5F0B-702F-DBCF-22ED-443FB1DE3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AAFE0-061B-6360-7D69-565DA5BA0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06806-5B23-BD7D-5618-3B0A525B1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B1909-AB11-67EE-5E92-A0B176559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2CE16-B0F9-68FE-E9E9-71AE27C9D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79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6B711-0AB4-1E75-6281-EA4B71FE1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2CF0D-AB35-4528-2C53-1E119BA74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8AC89-3786-AC31-9188-2FAAB199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79FA9-8F04-1F14-EC98-B27E1591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48287-CA66-A583-0E5F-A0534D7E8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9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C2F87-A976-5F0B-720C-9A549C579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DFE0E-D745-B779-59B0-C811DD176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856B9-45A7-DEDD-E365-93551B361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1D9BA-125A-B254-6831-3C7AFC7EA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5/8/25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DC1CF-0922-4C10-B774-8AB1A5E9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830F2-9046-C40C-22F3-80BDBED5B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07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C694-9703-953B-89EC-6DC018DE2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74921-3CEB-94CA-4D26-B2D6A259C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770EE-CFC7-E95C-2C69-2D7B5E488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F71B0-67D9-F153-9DA3-8D6CEBA38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7DB16A-A883-638B-CE8B-0A4C5DDC0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8BDF43-EA02-65B8-F4EF-1AE00B573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5/8/25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AFFE76-F6CF-9C4F-B861-06C5F14E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588323-F73E-2981-E611-FACADE5B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0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2A020-147C-31AA-5BBE-C7A296EF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B7CDF-9B9E-C986-7E78-7C3812EB7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5/8/25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C9865-DE91-7665-2F62-AAD3C5656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3084B-D76D-1E9C-D394-DA21BA94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49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C13E5-F5D9-E551-F7F4-34CE5480C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5/8/25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F8781C-1D48-BF49-F95B-C2A21BB3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170C6-6064-15BD-713B-9999A6BA6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4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A82B-95D2-1B7E-9B0C-F46C682FB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0344-5BEA-35D7-EC70-B2C6223AF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C63E0-1E57-7B66-A209-1FDC7724A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43816-256C-6D07-206B-9F24BD7AF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5/8/25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41418-5466-4C8D-EDE6-8077099A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FED37-4072-8E7E-98A8-C1351778D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01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D17F4-16B0-797A-DA47-E5FA48E4A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D546BA-9C23-AD3D-177D-57500693F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2176E-1B50-C4B8-E90F-17BB60777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F494D-86A1-A7DA-6B16-EBA38CB9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5/8/25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B4705-BF12-E0A1-7897-7E0E01E15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55E81-68EB-7766-911C-2291D4E4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8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D1F5B-5B03-4EAD-0F86-047BCA93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41ECFD-62FC-DBC0-B6A2-7D3F77F8F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EED0-ABDF-B7C6-68A2-9686FC2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D6CCA-1350-F313-40F1-3CDF130F4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FDAB2-93CC-F87A-790C-9373285E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19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B96555-C02F-134E-95DF-CEE0A4C2E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DBE70-62B4-E10D-2203-10D59D0AF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4A2BE-9A90-7C8E-94EB-D3631346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95FE-EB51-1844-AEC4-5454C1A40D31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07865-2DED-5B76-901C-A8774574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63FAB-5B48-27F0-AAAD-563BD5A8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6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899772-6EB4-F39A-2BD0-7BA30152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E01B9-9081-B569-76B6-CA2314CF8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8B809-E4AB-2889-1378-1A325FFE8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B295FE-EB51-1844-AEC4-5454C1A40D31}" type="datetimeFigureOut">
              <a:rPr lang="en-US" smtClean="0"/>
              <a:t>5/8/25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BE768-6681-4A8B-276E-1CEB77BD2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8974F-2DA5-F1D6-2F8E-6418C348C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C1642-86F6-1E44-9825-E61ABBA3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94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0002-726F-8DAE-1C93-EC31E6AC9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Update meetings: w/c 12/05/25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28F5F-85CD-4935-3E2A-6F0894C2B7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89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B12E2-73A3-A4E5-8D2B-35B2893D1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from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4B7F2-9D05-B2C5-4E46-20BD1989C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groups/Benchmarking</a:t>
            </a:r>
          </a:p>
          <a:p>
            <a:pPr lvl="1"/>
            <a:r>
              <a:rPr lang="en-US" dirty="0"/>
              <a:t>Suggested Google scholar overall metrics</a:t>
            </a:r>
          </a:p>
          <a:p>
            <a:pPr lvl="2"/>
            <a:r>
              <a:rPr lang="en-US" dirty="0"/>
              <a:t>Proving hard to find…</a:t>
            </a:r>
          </a:p>
          <a:p>
            <a:pPr lvl="1"/>
            <a:r>
              <a:rPr lang="en-US" dirty="0"/>
              <a:t>Instead: metric/years since graduating, journal-level metrics</a:t>
            </a:r>
          </a:p>
          <a:p>
            <a:pPr lvl="1"/>
            <a:r>
              <a:rPr lang="en-US" dirty="0"/>
              <a:t>Jobs</a:t>
            </a:r>
          </a:p>
          <a:p>
            <a:pPr lvl="2"/>
            <a:r>
              <a:rPr lang="en-US" dirty="0" err="1"/>
              <a:t>Standardised</a:t>
            </a:r>
            <a:r>
              <a:rPr lang="en-US" dirty="0"/>
              <a:t> titles to get a sense of progression</a:t>
            </a:r>
          </a:p>
          <a:p>
            <a:pPr lvl="2"/>
            <a:r>
              <a:rPr lang="en-US" dirty="0"/>
              <a:t>Map job sectors in time</a:t>
            </a:r>
          </a:p>
          <a:p>
            <a:r>
              <a:rPr lang="en-US" dirty="0"/>
              <a:t>Dropout rate</a:t>
            </a:r>
          </a:p>
          <a:p>
            <a:pPr lvl="1"/>
            <a:r>
              <a:rPr lang="en-US" dirty="0"/>
              <a:t>Identified drop-outs on </a:t>
            </a:r>
            <a:r>
              <a:rPr lang="en-US" dirty="0" err="1"/>
              <a:t>eVision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439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22F1D-81DB-9A57-C967-84800556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818DE-7892-2BE2-91ED-04C6EEAA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from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BC7DB-2D35-A284-7F59-C9D0D57C4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Specific metrics (and confounders?)</a:t>
            </a:r>
          </a:p>
          <a:p>
            <a:pPr lvl="1"/>
            <a:r>
              <a:rPr lang="en-US" dirty="0"/>
              <a:t>Time to reach a certain milestone?</a:t>
            </a:r>
          </a:p>
          <a:p>
            <a:pPr lvl="2"/>
            <a:r>
              <a:rPr lang="en-US" dirty="0"/>
              <a:t>Professor (confounded by age, location)</a:t>
            </a:r>
          </a:p>
          <a:p>
            <a:pPr lvl="1"/>
            <a:r>
              <a:rPr lang="en-US" dirty="0"/>
              <a:t>Time spent in certain roles?</a:t>
            </a:r>
          </a:p>
          <a:p>
            <a:pPr lvl="2"/>
            <a:r>
              <a:rPr lang="en-US" dirty="0"/>
              <a:t>Postdoc</a:t>
            </a:r>
          </a:p>
          <a:p>
            <a:r>
              <a:rPr lang="en-US" dirty="0"/>
              <a:t>Networks that arise</a:t>
            </a:r>
          </a:p>
          <a:p>
            <a:pPr lvl="1"/>
            <a:r>
              <a:rPr lang="en-US" dirty="0"/>
              <a:t>Done</a:t>
            </a:r>
          </a:p>
          <a:p>
            <a:pPr lvl="2"/>
            <a:r>
              <a:rPr lang="en-US" dirty="0"/>
              <a:t>Shared employers</a:t>
            </a:r>
          </a:p>
          <a:p>
            <a:pPr lvl="2"/>
            <a:r>
              <a:rPr lang="en-US" dirty="0"/>
              <a:t>Shared supervisors</a:t>
            </a:r>
          </a:p>
          <a:p>
            <a:pPr lvl="2"/>
            <a:r>
              <a:rPr lang="en-US" dirty="0"/>
              <a:t>Co-supervision</a:t>
            </a:r>
          </a:p>
          <a:p>
            <a:pPr lvl="1"/>
            <a:r>
              <a:rPr lang="en-US" dirty="0"/>
              <a:t>Pending</a:t>
            </a:r>
          </a:p>
          <a:p>
            <a:pPr lvl="2"/>
            <a:r>
              <a:rPr lang="en-US" dirty="0" err="1"/>
              <a:t>Coauthorship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157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BD14-4E74-9975-B026-65CD7487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9833F-80AC-DBD6-21FD-869E69FA5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Cambridge, Oxford, Russell Group and Other as separate categories</a:t>
            </a:r>
          </a:p>
          <a:p>
            <a:r>
              <a:rPr lang="en-US" dirty="0"/>
              <a:t>Journal-level statistics for papers</a:t>
            </a:r>
          </a:p>
          <a:p>
            <a:pPr lvl="1"/>
            <a:r>
              <a:rPr lang="en-US" dirty="0"/>
              <a:t>Impact factor is proprietary</a:t>
            </a:r>
          </a:p>
          <a:p>
            <a:pPr lvl="1"/>
            <a:r>
              <a:rPr lang="en-US" dirty="0"/>
              <a:t>2 year mean citations</a:t>
            </a:r>
          </a:p>
          <a:p>
            <a:pPr lvl="1"/>
            <a:r>
              <a:rPr lang="en-US" dirty="0"/>
              <a:t>I10 and H indices</a:t>
            </a:r>
          </a:p>
          <a:p>
            <a:r>
              <a:rPr lang="en-US" dirty="0"/>
              <a:t>Started writing up</a:t>
            </a:r>
          </a:p>
        </p:txBody>
      </p:sp>
    </p:spTree>
    <p:extLst>
      <p:ext uri="{BB962C8B-B14F-4D97-AF65-F5344CB8AC3E}">
        <p14:creationId xmlns:p14="http://schemas.microsoft.com/office/powerpoint/2010/main" val="3546871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7A812-9747-E197-8741-65DBC342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D1BF7-7B69-2202-8945-073A22E70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Graphs (pause for </a:t>
            </a:r>
            <a:r>
              <a:rPr lang="en-US" dirty="0" err="1"/>
              <a:t>programme</a:t>
            </a:r>
            <a:r>
              <a:rPr lang="en-US" dirty="0"/>
              <a:t> switch)</a:t>
            </a:r>
          </a:p>
          <a:p>
            <a:r>
              <a:rPr lang="en-US" dirty="0"/>
              <a:t>Oxbridge</a:t>
            </a:r>
          </a:p>
        </p:txBody>
      </p:sp>
    </p:spTree>
    <p:extLst>
      <p:ext uri="{BB962C8B-B14F-4D97-AF65-F5344CB8AC3E}">
        <p14:creationId xmlns:p14="http://schemas.microsoft.com/office/powerpoint/2010/main" val="380610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12D8E-FD5B-14EB-983A-560A59143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BF3E7-E20B-6A3A-D9A6-D1037D85C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433" y="184597"/>
            <a:ext cx="7655147" cy="6488805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6662AE-CE61-EA57-723C-C387F1E3C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82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76AD-0DBF-008B-A586-B31420676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Jobs: titles and progression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6EAA00-D26B-44FC-7F5A-C64AE4D50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10D7A6-B8ED-7E33-ED1F-F179FF4A9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299" y="1555750"/>
            <a:ext cx="7509711" cy="475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02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DD80F-A37B-F936-2207-8C877180A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BA506-105B-69CA-FDA2-20BA158B6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B005F6-117C-DD72-CF6F-F7223AC6B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75" y="104621"/>
            <a:ext cx="9822649" cy="664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3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084C-9F83-3D0A-7216-7C8620D9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1EE54-3068-C1BF-7BFA-498B47A06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5D12D-402A-AC5E-7937-059ECF8F2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0" y="0"/>
            <a:ext cx="10895330" cy="671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88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17D8-8B78-CB94-D0CA-F11C508F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26F42-9B5A-EDED-BDDC-552B9EF53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63BC4-9E3B-4911-60D9-AF3ABE803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99" y="159544"/>
            <a:ext cx="11201441" cy="65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44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FDF3-5402-F256-EC67-00EA6F8D6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29676-2A96-3A84-CEB3-53E3C1FFD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72DF1-02AE-4FB5-D95D-0CEA29769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582" y="0"/>
            <a:ext cx="96608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85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A0CB-83FF-63A0-A240-534D28D9E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93A08-4A7A-D698-9E49-90CAA16B9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063BC2-8B55-E4B7-455D-96DC80A26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89051"/>
            <a:ext cx="5461000" cy="60538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129D55-56AF-B08D-20A2-16B3C3210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89050"/>
            <a:ext cx="5460999" cy="641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83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838C8-6F69-3A08-62BB-FA36829C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69807-E4AF-E25F-30DC-611C2C122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64BBD-9ADC-6B26-F186-57C079C25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49" y="0"/>
            <a:ext cx="7056587" cy="681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52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927B5-A9F4-A0AC-B010-761D5842C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0D1DF-EB9F-0E8D-FC74-2CC681DE4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4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E2B84-A606-2139-441E-49F11C56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A928D-2442-7405-502B-B356933DA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0C570E-666C-8EFA-AE0F-BAC805BE1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0"/>
            <a:ext cx="9010650" cy="684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74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4D90E-5578-7875-C779-239BE56D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E549B-5011-0F23-807B-5499ACA31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4B306D-6F9A-04DB-D0BB-EBD8CBCE9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350" y="-1"/>
            <a:ext cx="8528050" cy="656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22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4F1B-25CE-1588-90B1-2326A4E51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D4E30-2746-CC10-B09D-868B166D4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8851FA-72FD-D904-5DC1-E46A3424A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0"/>
            <a:ext cx="8972550" cy="681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80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4A859-F27A-BC3D-BB50-5543C6FA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5ED1B-7D9D-1F6D-55F5-F91B77B71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A9DC65-D85C-3D5A-3DE6-341859B9E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50" y="0"/>
            <a:ext cx="8489950" cy="644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87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01801-EA0C-CA3B-E392-1DF9F3158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B0779-A6ED-BF6D-D98A-0F9E25A56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75E607-D950-744B-244A-53BF26578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702" y="127000"/>
            <a:ext cx="9324596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81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BE4D-2F6D-994E-DE83-546B3E57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7E7C-FD24-A4E6-E814-9E383027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B9789-56A8-3025-1EB9-81CC22EB9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available as runnable code!</a:t>
            </a:r>
          </a:p>
          <a:p>
            <a:pPr lvl="1"/>
            <a:r>
              <a:rPr lang="en-US" dirty="0"/>
              <a:t>Code is free and quick to run</a:t>
            </a:r>
          </a:p>
          <a:p>
            <a:pPr lvl="1"/>
            <a:r>
              <a:rPr lang="en-US" dirty="0"/>
              <a:t>Code is cleaned and commented: aim is to get it to a stage where someone will just have to press a button</a:t>
            </a:r>
          </a:p>
          <a:p>
            <a:r>
              <a:rPr lang="en-US" dirty="0"/>
              <a:t>Eoin claims IT form collects ORCID?</a:t>
            </a:r>
          </a:p>
          <a:p>
            <a:r>
              <a:rPr lang="en-US" dirty="0"/>
              <a:t>Hard to find comparison/benchmark/control datasets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79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70D48-3F76-4109-0FFB-2D4658BC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48050-0E1C-7CB0-899D-7ED9DB5A5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 studies / Focus groups</a:t>
            </a:r>
          </a:p>
          <a:p>
            <a:pPr lvl="1"/>
            <a:r>
              <a:rPr lang="en-US" dirty="0"/>
              <a:t>Entrepreneurs</a:t>
            </a:r>
          </a:p>
          <a:p>
            <a:pPr lvl="1"/>
            <a:r>
              <a:rPr lang="en-US" dirty="0"/>
              <a:t>Pharma?</a:t>
            </a:r>
          </a:p>
          <a:p>
            <a:pPr lvl="1"/>
            <a:r>
              <a:rPr lang="en-US" dirty="0"/>
              <a:t>Dropouts?</a:t>
            </a:r>
          </a:p>
          <a:p>
            <a:r>
              <a:rPr lang="en-US" dirty="0"/>
              <a:t>Continue writing</a:t>
            </a:r>
          </a:p>
          <a:p>
            <a:r>
              <a:rPr lang="en-US" dirty="0"/>
              <a:t>What’s internally / externally relevant</a:t>
            </a:r>
          </a:p>
          <a:p>
            <a:r>
              <a:rPr lang="en-US" dirty="0"/>
              <a:t>Break down by department?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589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15511</TotalTime>
  <Words>226</Words>
  <Application>Microsoft Macintosh PowerPoint</Application>
  <PresentationFormat>Widescreen</PresentationFormat>
  <Paragraphs>50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Update meetings: w/c 12/05/25</vt:lpstr>
      <vt:lpstr>Next steps from last time</vt:lpstr>
      <vt:lpstr>Next steps from last time</vt:lpstr>
      <vt:lpstr>Other updates</vt:lpstr>
      <vt:lpstr>Students…</vt:lpstr>
      <vt:lpstr>PowerPoint Presentation</vt:lpstr>
      <vt:lpstr>Jobs: titles and progression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Papers…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Papers…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Ioana Duta</dc:creator>
  <cp:lastModifiedBy>Ioana Duta</cp:lastModifiedBy>
  <cp:revision>5</cp:revision>
  <dcterms:created xsi:type="dcterms:W3CDTF">2025-04-07T14:39:15Z</dcterms:created>
  <dcterms:modified xsi:type="dcterms:W3CDTF">2025-05-16T08:28:41Z</dcterms:modified>
</cp:coreProperties>
</file>