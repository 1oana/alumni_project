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6" r:id="rId3"/>
    <p:sldId id="265" r:id="rId4"/>
    <p:sldId id="257" r:id="rId5"/>
    <p:sldId id="268" r:id="rId6"/>
    <p:sldId id="269" r:id="rId7"/>
    <p:sldId id="262" r:id="rId8"/>
    <p:sldId id="263" r:id="rId9"/>
    <p:sldId id="260" r:id="rId10"/>
    <p:sldId id="261" r:id="rId11"/>
    <p:sldId id="267" r:id="rId12"/>
    <p:sldId id="258" r:id="rId13"/>
    <p:sldId id="2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69"/>
    <p:restoredTop sz="94894"/>
  </p:normalViewPr>
  <p:slideViewPr>
    <p:cSldViewPr snapToGrid="0">
      <p:cViewPr varScale="1">
        <p:scale>
          <a:sx n="116" d="100"/>
          <a:sy n="116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993B3-B96F-8248-A865-953817BA8AE1}" type="datetimeFigureOut">
              <a:rPr lang="en-US" smtClean="0"/>
              <a:t>2/26/25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50FB-C8C9-BF43-ABD5-66A6A065E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1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Pls stress that data will need to be quickly read by new people!!!!!!!!!!!!!!!!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550FB-C8C9-BF43-ABD5-66A6A065EBC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85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10446-F2F4-E30D-2666-6DEFDA2852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E1D36-5B7A-26C5-BB79-5BCB58846A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4F9F0-8FFF-4326-B25D-14A60EF1C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9892-6863-134C-8179-D664E9B7E465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144BA-9525-504F-DDC1-089653342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74B93-9241-3D4E-80E0-F16A8CA99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9A866-32C3-A540-8CE5-733592704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510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328B4-E6D5-8610-2CAB-CDE1EEB41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F4F2F-8005-B770-C142-17611D1C4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DD7D3-035E-1045-0AB6-4F25B2992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9892-6863-134C-8179-D664E9B7E465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A8DE0-36EE-F51E-7009-90CCB8CF7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DA1F5-10D1-AC02-B1C6-7A99F280D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9A866-32C3-A540-8CE5-733592704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186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3DB80-910F-28FB-1D81-A7C4D3DF7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C1EFA-40D0-809F-A117-B9AF43205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6163B-14DC-552D-F599-157BED392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9892-6863-134C-8179-D664E9B7E465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10116-D76B-5797-E3BD-3367F51CD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4D10C-DB35-A4CB-461F-A737E36D5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9A866-32C3-A540-8CE5-733592704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46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5A81A-7589-5BE0-65D6-2C2EB7823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4B44E-E1A9-8F9B-007C-ACC809B14F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98C545-51EC-9DFB-5BDA-E82959D09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C0254-EB24-9947-53FD-5F1503C92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9892-6863-134C-8179-D664E9B7E465}" type="datetimeFigureOut">
              <a:rPr lang="en-US" smtClean="0"/>
              <a:t>2/26/25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B7169-5AA2-8656-12F0-E7FE35FE7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9B00E-E814-2AC2-FBF6-1227B354D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9A866-32C3-A540-8CE5-733592704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47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5D856-D613-932C-EA22-34556E3CB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0F30C-F631-3B42-B83A-76429470A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689BEE-6B50-6DCB-4E17-5A47CE2D1F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301E12-1A1E-71DE-1AF2-38CC767450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4CE33D-981D-31E3-0F87-46AE269F5B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4040B5-AD6C-7C95-B0F7-8D4A3A4C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9892-6863-134C-8179-D664E9B7E465}" type="datetimeFigureOut">
              <a:rPr lang="en-US" smtClean="0"/>
              <a:t>2/26/25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DC3C5A-E740-0DC4-458C-D615E126B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206499-F40E-D830-EDCC-E06481ACA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9A866-32C3-A540-8CE5-733592704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571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5A0C-A2FD-AEBF-64E3-D61E63BE0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3370DE-B3C4-9DD8-1F67-7BC941AAB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9892-6863-134C-8179-D664E9B7E465}" type="datetimeFigureOut">
              <a:rPr lang="en-US" smtClean="0"/>
              <a:t>2/26/25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16C4A9-F4D3-2A66-1355-E84BA5DE7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0A8E20-61AE-4C29-927E-D2BF52B22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9A866-32C3-A540-8CE5-733592704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72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E60D42-A06B-5B9C-B1FE-17FB83715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9892-6863-134C-8179-D664E9B7E465}" type="datetimeFigureOut">
              <a:rPr lang="en-US" smtClean="0"/>
              <a:t>2/26/25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D32D75-F9A1-FA01-2030-0F3099450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543C6-3DE5-5397-1F9D-D6D4BBC7D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9A866-32C3-A540-8CE5-733592704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5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BCC5E-C454-19D2-FB01-98F0E5932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8792F-15F3-3384-FA81-247CC78EA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A522E-A4A5-21B3-5443-E73C0C5BA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4D24D8-1DC4-33FB-EE3E-0EABE24DC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9892-6863-134C-8179-D664E9B7E465}" type="datetimeFigureOut">
              <a:rPr lang="en-US" smtClean="0"/>
              <a:t>2/26/25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95EAF-5597-D81F-BA6B-C66C76D2B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2901B-D829-2695-7828-04788A614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9A866-32C3-A540-8CE5-733592704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56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6B9A5-4F15-4D8C-D71E-D3691103D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F34273-A011-E43D-90B8-D44BA4679A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12F3CA-1D32-7996-7B86-747A7081D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D62F3-A24F-B8AC-0089-552C9DAD1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9892-6863-134C-8179-D664E9B7E465}" type="datetimeFigureOut">
              <a:rPr lang="en-US" smtClean="0"/>
              <a:t>2/26/25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07AB2-9B5A-ABEA-3440-7FC3C75DC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7025CB-794D-3554-CA2F-D4962D821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9A866-32C3-A540-8CE5-733592704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232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D0141-BACB-A540-3005-2B114C3A2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494C81-719D-1601-9203-5EAC497779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06B66-7952-2C18-81F8-5A5517568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9892-6863-134C-8179-D664E9B7E465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29030-CC04-8763-1724-DB72FC93C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00E3F-06DE-ECE4-82FE-90563A675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9A866-32C3-A540-8CE5-733592704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25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342AB0-55B4-2244-FB80-8184397738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1B27E3-AAEF-06CE-C431-7AFA31E9F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58701-D27B-AB41-4D64-CC5156F57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9892-6863-134C-8179-D664E9B7E465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02BA-6F52-1F65-8074-24FEFD8E0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B0CB5-5D79-5127-A77E-E42331202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9A866-32C3-A540-8CE5-733592704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914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F57909-BFD9-CDEB-5FD8-B5A6C2137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4FDEF-7C6F-B296-B152-7D36AD0B2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3E3F9-59BE-F441-DB8C-67FD96B772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D29892-6863-134C-8179-D664E9B7E465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5A629-E787-C38E-C15B-B9756801E1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B1088-1A24-787A-E54C-BF42F1B00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A9A866-32C3-A540-8CE5-733592704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878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ico.org.uk/for-organisations/direct-marketing-and-privacy-and-electronic-communications/guide-to-pecr/electronic-and-telephone-marketing/electronic-mail-market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linkedin/sales/display-services/leads-screenshots#messaging" TargetMode="External"/><Relationship Id="rId2" Type="http://schemas.openxmlformats.org/officeDocument/2006/relationships/hyperlink" Target="https://business.linkedin.com/marketing-solutions/message-ad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56C9-95A0-BF6C-F6CE-079ECF8C54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27/02 Update Meeting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BD5BDA-8517-DB8B-C9A1-3174298561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92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7C614-26AF-F4A8-E543-BE7226323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0273B-CBF8-D62B-9E3A-674FEC993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&amp; progress</a:t>
            </a:r>
          </a:p>
          <a:p>
            <a:r>
              <a:rPr lang="en-US" dirty="0"/>
              <a:t>Report / Website</a:t>
            </a:r>
          </a:p>
          <a:p>
            <a:r>
              <a:rPr lang="en-US" dirty="0"/>
              <a:t>The future</a:t>
            </a:r>
          </a:p>
          <a:p>
            <a:r>
              <a:rPr lang="en-US" dirty="0"/>
              <a:t>Other datasets</a:t>
            </a:r>
          </a:p>
          <a:p>
            <a:r>
              <a:rPr lang="en-US" dirty="0"/>
              <a:t>LinkedIn</a:t>
            </a:r>
          </a:p>
          <a:p>
            <a:r>
              <a:rPr lang="en-US" dirty="0"/>
              <a:t>AOB?</a:t>
            </a:r>
          </a:p>
        </p:txBody>
      </p:sp>
    </p:spTree>
    <p:extLst>
      <p:ext uri="{BB962C8B-B14F-4D97-AF65-F5344CB8AC3E}">
        <p14:creationId xmlns:p14="http://schemas.microsoft.com/office/powerpoint/2010/main" val="2295653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53188-27A6-719A-2D4F-2D1ED06F8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F746B-773A-92A2-EA1F-500B0A69B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Students set</a:t>
            </a:r>
          </a:p>
          <a:p>
            <a:pPr lvl="1"/>
            <a:r>
              <a:rPr lang="en-US" dirty="0"/>
              <a:t>ID, Name, Career History*, Current Job, Location, UG &amp; PG Study, LinkedIn (and more? See later)</a:t>
            </a:r>
          </a:p>
          <a:p>
            <a:r>
              <a:rPr lang="en-US" dirty="0"/>
              <a:t>Jobs set</a:t>
            </a:r>
          </a:p>
          <a:p>
            <a:pPr lvl="1"/>
            <a:r>
              <a:rPr lang="en-US" dirty="0"/>
              <a:t>ID, Name, Job Title, Company, Dates, Sector, Location</a:t>
            </a:r>
          </a:p>
          <a:p>
            <a:r>
              <a:rPr lang="en-US" dirty="0"/>
              <a:t>Papers set**</a:t>
            </a:r>
          </a:p>
          <a:p>
            <a:pPr lvl="1"/>
            <a:r>
              <a:rPr lang="en-US" dirty="0"/>
              <a:t>ID, Name, </a:t>
            </a:r>
            <a:r>
              <a:rPr lang="en-US" dirty="0" err="1"/>
              <a:t>ORCiD</a:t>
            </a:r>
            <a:r>
              <a:rPr lang="en-US" dirty="0"/>
              <a:t>, Title, DOI, Year, Journal, Citation Count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*To be replaced by ‘has career’ as the existing careers are  standardized and can be moved</a:t>
            </a:r>
          </a:p>
          <a:p>
            <a:pPr marL="0" indent="0">
              <a:buNone/>
            </a:pPr>
            <a:r>
              <a:rPr lang="en-US" dirty="0"/>
              <a:t>**Currently exists separately</a:t>
            </a:r>
          </a:p>
        </p:txBody>
      </p:sp>
    </p:spTree>
    <p:extLst>
      <p:ext uri="{BB962C8B-B14F-4D97-AF65-F5344CB8AC3E}">
        <p14:creationId xmlns:p14="http://schemas.microsoft.com/office/powerpoint/2010/main" val="2715655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43AC5-0FFB-14D0-0DF2-FE87BB149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Progress: completeness &amp; work needed</a:t>
            </a:r>
          </a:p>
        </p:txBody>
      </p:sp>
      <p:pic>
        <p:nvPicPr>
          <p:cNvPr id="6" name="Content Placeholder 5" descr="A green and yellow lines with black text&#10;&#10;AI-generated content may be incorrect.">
            <a:extLst>
              <a:ext uri="{FF2B5EF4-FFF2-40B4-BE49-F238E27FC236}">
                <a16:creationId xmlns:a16="http://schemas.microsoft.com/office/drawing/2014/main" id="{AA66D72B-9FC0-9C96-B17E-B6C4C32CF5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437" y="1399381"/>
            <a:ext cx="4729673" cy="5458619"/>
          </a:xfr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0ACB35B-C7E0-D0A0-3C57-24A53760F522}"/>
              </a:ext>
            </a:extLst>
          </p:cNvPr>
          <p:cNvSpPr txBox="1">
            <a:spLocks/>
          </p:cNvSpPr>
          <p:nvPr/>
        </p:nvSpPr>
        <p:spPr>
          <a:xfrm>
            <a:off x="5000624" y="1825625"/>
            <a:ext cx="63531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Check</a:t>
            </a:r>
          </a:p>
          <a:p>
            <a:pPr lvl="1"/>
            <a:r>
              <a:rPr lang="en-US" dirty="0" err="1"/>
              <a:t>ORDiDs</a:t>
            </a:r>
            <a:endParaRPr lang="en-US" dirty="0"/>
          </a:p>
          <a:p>
            <a:pPr lvl="1"/>
            <a:r>
              <a:rPr lang="en-US" dirty="0"/>
              <a:t>Two APIs for paper scraping: compare both</a:t>
            </a:r>
          </a:p>
          <a:p>
            <a:r>
              <a:rPr lang="en-US" dirty="0"/>
              <a:t>Standardize jobs</a:t>
            </a:r>
          </a:p>
          <a:p>
            <a:r>
              <a:rPr lang="en-US" dirty="0"/>
              <a:t>Filling in blanks</a:t>
            </a:r>
          </a:p>
        </p:txBody>
      </p:sp>
    </p:spTree>
    <p:extLst>
      <p:ext uri="{BB962C8B-B14F-4D97-AF65-F5344CB8AC3E}">
        <p14:creationId xmlns:p14="http://schemas.microsoft.com/office/powerpoint/2010/main" val="614465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C76AD-0DBF-008B-A586-B31420676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bit more about jobs…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4F4C7-B8BA-68B0-A23A-D876C096C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2-part process:</a:t>
            </a:r>
          </a:p>
          <a:p>
            <a:pPr lvl="1"/>
            <a:r>
              <a:rPr lang="en-US" dirty="0"/>
              <a:t>Manual scrape by the boys (2002-mid2017)</a:t>
            </a:r>
          </a:p>
          <a:p>
            <a:pPr lvl="2"/>
            <a:r>
              <a:rPr lang="en-US" dirty="0"/>
              <a:t>Not standardized… at all</a:t>
            </a:r>
          </a:p>
          <a:p>
            <a:pPr lvl="3"/>
            <a:r>
              <a:rPr lang="en-US" dirty="0"/>
              <a:t>Cleaning: step 1</a:t>
            </a:r>
          </a:p>
          <a:p>
            <a:pPr lvl="2"/>
            <a:r>
              <a:rPr lang="en-US" dirty="0"/>
              <a:t>Lacks location and sector for each job</a:t>
            </a:r>
          </a:p>
          <a:p>
            <a:pPr lvl="3"/>
            <a:r>
              <a:rPr lang="en-US" dirty="0"/>
              <a:t>Cleaning: step 2 (more likely to be automatable)</a:t>
            </a:r>
          </a:p>
          <a:p>
            <a:pPr lvl="1"/>
            <a:r>
              <a:rPr lang="en-US" dirty="0"/>
              <a:t>Automated scrape by me (mid2017-2019)</a:t>
            </a:r>
          </a:p>
          <a:p>
            <a:pPr lvl="2"/>
            <a:r>
              <a:rPr lang="en-US" dirty="0"/>
              <a:t>Has all info</a:t>
            </a:r>
          </a:p>
          <a:p>
            <a:pPr lvl="2"/>
            <a:r>
              <a:rPr lang="en-US" dirty="0"/>
              <a:t>Requires standardization of sectors</a:t>
            </a:r>
          </a:p>
          <a:p>
            <a:pPr lvl="2"/>
            <a:r>
              <a:rPr lang="en-US" dirty="0"/>
              <a:t>All in lowercase for some reason, but I believe we can live with this</a:t>
            </a:r>
          </a:p>
          <a:p>
            <a:r>
              <a:rPr lang="en-US" dirty="0"/>
              <a:t>How were the sectors decided?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702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5BE4D-2F6D-994E-DE83-546B3E570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57E7C-FD24-A4E6-E814-9E3830279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bit more about papers…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B9789-56A8-3025-1EB9-81CC22EB9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2-part process:</a:t>
            </a:r>
          </a:p>
          <a:p>
            <a:pPr lvl="1"/>
            <a:r>
              <a:rPr lang="en-US" dirty="0"/>
              <a:t>Find ORCIDs</a:t>
            </a:r>
          </a:p>
          <a:p>
            <a:pPr lvl="1"/>
            <a:r>
              <a:rPr lang="en-US" dirty="0"/>
              <a:t>Look up that ORCID’s papers</a:t>
            </a:r>
          </a:p>
          <a:p>
            <a:r>
              <a:rPr lang="en-US" dirty="0"/>
              <a:t>What I’ve done:</a:t>
            </a:r>
          </a:p>
          <a:p>
            <a:pPr lvl="1"/>
            <a:r>
              <a:rPr lang="en-US" dirty="0"/>
              <a:t>Look up everyone’s ORCIDs</a:t>
            </a:r>
          </a:p>
          <a:p>
            <a:pPr lvl="2"/>
            <a:r>
              <a:rPr lang="en-US" dirty="0"/>
              <a:t>Currently checking the accuracy of this!</a:t>
            </a:r>
          </a:p>
          <a:p>
            <a:pPr lvl="1"/>
            <a:r>
              <a:rPr lang="en-US" dirty="0"/>
              <a:t>Look up every paper written by each ORCID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379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02908-8D1D-7E7A-8584-F40EFFBF9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 /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786E5-BF6D-49CB-6BFF-E354B16C4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[pause to show report]</a:t>
            </a:r>
          </a:p>
        </p:txBody>
      </p:sp>
    </p:spTree>
    <p:extLst>
      <p:ext uri="{BB962C8B-B14F-4D97-AF65-F5344CB8AC3E}">
        <p14:creationId xmlns:p14="http://schemas.microsoft.com/office/powerpoint/2010/main" val="875958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FCA4E-25F0-ABB9-9FC2-5397572AA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4B50E-08E0-76BB-F1F1-B0A747DE2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Proposal: </a:t>
            </a:r>
            <a:r>
              <a:rPr lang="en-US" dirty="0" err="1"/>
              <a:t>StreamLit</a:t>
            </a:r>
            <a:endParaRPr lang="en-US" dirty="0"/>
          </a:p>
          <a:p>
            <a:r>
              <a:rPr lang="en-US" strike="sngStrike" dirty="0"/>
              <a:t>If only DTC, can be hosted on RSE servers</a:t>
            </a:r>
          </a:p>
          <a:p>
            <a:pPr lvl="1"/>
            <a:r>
              <a:rPr lang="en-US" strike="sngStrike" dirty="0"/>
              <a:t>Use </a:t>
            </a:r>
            <a:r>
              <a:rPr lang="en-US" strike="sngStrike" dirty="0" err="1"/>
              <a:t>TailScale</a:t>
            </a:r>
            <a:r>
              <a:rPr lang="en-US" strike="sngStrike" dirty="0"/>
              <a:t> to create a ‘network’</a:t>
            </a:r>
          </a:p>
          <a:p>
            <a:pPr lvl="1"/>
            <a:r>
              <a:rPr lang="en-US" strike="sngStrike" dirty="0"/>
              <a:t>No security issues – doesn’t even leave the building!</a:t>
            </a:r>
          </a:p>
          <a:p>
            <a:pPr lvl="1"/>
            <a:r>
              <a:rPr lang="en-US" strike="sngStrike" dirty="0"/>
              <a:t>Reliant on Abhishek </a:t>
            </a:r>
            <a:r>
              <a:rPr lang="en-US" strike="sngStrike" dirty="0">
                <a:sym typeface="Wingdings" pitchFamily="2" charset="2"/>
              </a:rPr>
              <a:t></a:t>
            </a:r>
          </a:p>
          <a:p>
            <a:r>
              <a:rPr lang="en-US" dirty="0"/>
              <a:t>If want authentication, need to involve </a:t>
            </a:r>
            <a:r>
              <a:rPr lang="en-US" dirty="0" err="1"/>
              <a:t>FireBase</a:t>
            </a:r>
            <a:endParaRPr lang="en-US" dirty="0"/>
          </a:p>
          <a:p>
            <a:r>
              <a:rPr lang="en-US" dirty="0"/>
              <a:t>If cloud based, would involve (deidentified) data on AWS, S3</a:t>
            </a:r>
          </a:p>
          <a:p>
            <a:pPr lvl="1"/>
            <a:r>
              <a:rPr lang="en-US" dirty="0"/>
              <a:t>Potential to do this later during scaleup – it’s a bit more complicated to set up</a:t>
            </a:r>
          </a:p>
          <a:p>
            <a:r>
              <a:rPr lang="en-US" dirty="0"/>
              <a:t>Requisite repository could be hosted by RSE group GitHub org.</a:t>
            </a:r>
          </a:p>
          <a:p>
            <a:r>
              <a:rPr lang="en-US" dirty="0"/>
              <a:t>For paid options, maybe £20-30/</a:t>
            </a:r>
            <a:r>
              <a:rPr lang="en-US" dirty="0" err="1"/>
              <a:t>mo</a:t>
            </a:r>
            <a:r>
              <a:rPr lang="en-US" dirty="0"/>
              <a:t>?</a:t>
            </a:r>
          </a:p>
          <a:p>
            <a:r>
              <a:rPr lang="en-US" dirty="0"/>
              <a:t>Who is this for?</a:t>
            </a:r>
          </a:p>
          <a:p>
            <a:pPr lvl="1"/>
            <a:r>
              <a:rPr lang="en-US" dirty="0"/>
              <a:t>Private for now – public one day … ?</a:t>
            </a:r>
          </a:p>
          <a:p>
            <a:pPr lvl="1"/>
            <a:r>
              <a:rPr lang="en-US" dirty="0"/>
              <a:t>Private to who – us three, the rest of the university?</a:t>
            </a:r>
          </a:p>
        </p:txBody>
      </p:sp>
    </p:spTree>
    <p:extLst>
      <p:ext uri="{BB962C8B-B14F-4D97-AF65-F5344CB8AC3E}">
        <p14:creationId xmlns:p14="http://schemas.microsoft.com/office/powerpoint/2010/main" val="3878815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1AFD0-BD28-7857-215D-E75F6A1B2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future: maintaining a publications 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B4355-480F-3E66-D56B-76F6361F5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Ask people for </a:t>
            </a:r>
            <a:r>
              <a:rPr lang="en-US" dirty="0" err="1"/>
              <a:t>ORCiD</a:t>
            </a:r>
            <a:r>
              <a:rPr lang="en-US" dirty="0"/>
              <a:t> on joining</a:t>
            </a:r>
          </a:p>
          <a:p>
            <a:pPr lvl="1"/>
            <a:r>
              <a:rPr lang="en-US" dirty="0"/>
              <a:t>I’m pretty sure some people don’t have one at all</a:t>
            </a:r>
          </a:p>
          <a:p>
            <a:r>
              <a:rPr lang="en-US" dirty="0"/>
              <a:t>Code is free and quick to run</a:t>
            </a:r>
          </a:p>
          <a:p>
            <a:pPr lvl="1"/>
            <a:r>
              <a:rPr lang="en-US" dirty="0"/>
              <a:t>However accuracy relies on having a confirmed way to look up THAT SPECIFIC person -- the </a:t>
            </a:r>
            <a:r>
              <a:rPr lang="en-US" dirty="0" err="1"/>
              <a:t>ORCiD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879239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0CDF4-B2C4-7ADA-1181-467F3374A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13040-D597-2E4A-B6A6-61E55E5AC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future: maintaining a jobs 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BD27D-AAF6-9739-2BD4-432FA5CB9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Trickier</a:t>
            </a:r>
          </a:p>
          <a:p>
            <a:r>
              <a:rPr lang="en-US" dirty="0"/>
              <a:t>Ask people for their LinkedIn when they join?</a:t>
            </a:r>
          </a:p>
          <a:p>
            <a:pPr lvl="1"/>
            <a:r>
              <a:rPr lang="en-US" dirty="0"/>
              <a:t>Finding </a:t>
            </a:r>
            <a:r>
              <a:rPr lang="en-US" dirty="0" err="1"/>
              <a:t>LinkedIns</a:t>
            </a:r>
            <a:r>
              <a:rPr lang="en-US" dirty="0"/>
              <a:t> is a </a:t>
            </a:r>
            <a:r>
              <a:rPr lang="en-US" dirty="0" err="1"/>
              <a:t>timesink</a:t>
            </a:r>
            <a:endParaRPr lang="en-US" dirty="0"/>
          </a:p>
          <a:p>
            <a:r>
              <a:rPr lang="en-US" dirty="0"/>
              <a:t>Automated script is NOT free (with the method I used)</a:t>
            </a:r>
          </a:p>
          <a:p>
            <a:pPr lvl="1"/>
            <a:r>
              <a:rPr lang="en-US" dirty="0"/>
              <a:t>You can perform 100 person lookups a month with a free account/API key</a:t>
            </a:r>
          </a:p>
          <a:p>
            <a:pPr lvl="1"/>
            <a:r>
              <a:rPr lang="en-US" dirty="0"/>
              <a:t>Paid plans start at $98/</a:t>
            </a:r>
            <a:r>
              <a:rPr lang="en-US" dirty="0" err="1"/>
              <a:t>mo</a:t>
            </a:r>
            <a:r>
              <a:rPr lang="en-US" dirty="0"/>
              <a:t> which seems excessive given there is no need to run any more regularly than 1 time/</a:t>
            </a:r>
            <a:r>
              <a:rPr lang="en-US" dirty="0" err="1"/>
              <a:t>mo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No SSO linking so (</a:t>
            </a:r>
            <a:r>
              <a:rPr lang="en-US" dirty="0" err="1"/>
              <a:t>eg</a:t>
            </a:r>
            <a:r>
              <a:rPr lang="en-US" dirty="0"/>
              <a:t>) I am sneakily eligible for 3 free keys due to having 3 Oxford emails</a:t>
            </a:r>
          </a:p>
          <a:p>
            <a:pPr lvl="1"/>
            <a:r>
              <a:rPr lang="en-US" dirty="0"/>
              <a:t>I save every person as a (small) file so once their lookup is performed any info can be mined (86% success rate)</a:t>
            </a:r>
          </a:p>
          <a:p>
            <a:r>
              <a:rPr lang="en-US" dirty="0"/>
              <a:t>LinkedIn has their own API but (as far as I can tell) you need every user’s permission (they authenticate your access on their account) to look them up</a:t>
            </a:r>
          </a:p>
        </p:txBody>
      </p:sp>
    </p:spTree>
    <p:extLst>
      <p:ext uri="{BB962C8B-B14F-4D97-AF65-F5344CB8AC3E}">
        <p14:creationId xmlns:p14="http://schemas.microsoft.com/office/powerpoint/2010/main" val="144073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18477-BDC4-5C4C-331F-FD25A7E98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CECDB-24E9-E2E3-01E6-7F3740733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Supervisor dataset</a:t>
            </a:r>
          </a:p>
          <a:p>
            <a:pPr lvl="1"/>
            <a:r>
              <a:rPr lang="en-US" dirty="0"/>
              <a:t>On hold until a clear use case is defined?</a:t>
            </a:r>
          </a:p>
          <a:p>
            <a:r>
              <a:rPr lang="en-US" dirty="0"/>
              <a:t>Extend students: end date, thesis title, supervisor</a:t>
            </a:r>
          </a:p>
          <a:p>
            <a:pPr lvl="1"/>
            <a:r>
              <a:rPr lang="en-US" dirty="0"/>
              <a:t>Appendix A seems to have titles and supervisors – at least correct to the time of print</a:t>
            </a:r>
          </a:p>
          <a:p>
            <a:pPr lvl="2"/>
            <a:r>
              <a:rPr lang="en-US" dirty="0"/>
              <a:t>Project titles and supervisors</a:t>
            </a:r>
          </a:p>
          <a:p>
            <a:pPr lvl="2"/>
            <a:r>
              <a:rPr lang="en-US" dirty="0"/>
              <a:t>Thesis departments, supervisors and preliminary titles</a:t>
            </a:r>
          </a:p>
          <a:p>
            <a:pPr lvl="1"/>
            <a:r>
              <a:rPr lang="en-US" dirty="0"/>
              <a:t>Final titles can be found on ORA with dates… hopefully not manually!</a:t>
            </a:r>
          </a:p>
        </p:txBody>
      </p:sp>
    </p:spTree>
    <p:extLst>
      <p:ext uri="{BB962C8B-B14F-4D97-AF65-F5344CB8AC3E}">
        <p14:creationId xmlns:p14="http://schemas.microsoft.com/office/powerpoint/2010/main" val="1134310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8B487-DB68-1C6C-8888-8B0348E9E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I mass email people if I didn’t ask them if I could do that?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B9866-9A8F-EFC9-5EC3-AFD12F1EB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far as I can tell </a:t>
            </a:r>
            <a:r>
              <a:rPr lang="en-US" b="1" dirty="0"/>
              <a:t>absolutely</a:t>
            </a:r>
            <a:r>
              <a:rPr lang="en-US" dirty="0"/>
              <a:t> not</a:t>
            </a:r>
          </a:p>
          <a:p>
            <a:r>
              <a:rPr lang="en-US" dirty="0"/>
              <a:t>We probably don’t want to be reported to the ICO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E85D59-07A8-8BC2-D960-E0B8E3C0A7A1}"/>
              </a:ext>
            </a:extLst>
          </p:cNvPr>
          <p:cNvSpPr txBox="1"/>
          <p:nvPr/>
        </p:nvSpPr>
        <p:spPr>
          <a:xfrm>
            <a:off x="8812202" y="5554156"/>
            <a:ext cx="3045619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hlinkClick r:id="rId2"/>
              </a:rPr>
              <a:t>https://ico.org.uk/for-organisations/direct-marketing-and-privacy-and-electronic-communications/guide-to-pecr/electronic-and-telephone-marketing/electronic-mail-marketing</a:t>
            </a:r>
            <a:endParaRPr lang="en-US" sz="1100" dirty="0"/>
          </a:p>
        </p:txBody>
      </p:sp>
      <p:pic>
        <p:nvPicPr>
          <p:cNvPr id="8" name="Graphic 7" descr="Ghost with solid fill">
            <a:extLst>
              <a:ext uri="{FF2B5EF4-FFF2-40B4-BE49-F238E27FC236}">
                <a16:creationId xmlns:a16="http://schemas.microsoft.com/office/drawing/2014/main" id="{84546B3B-C41F-C201-FCD3-2980390649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3657600"/>
            <a:ext cx="2719388" cy="27193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7295EE-53E1-FFC8-F744-304E0870B1D4}"/>
              </a:ext>
            </a:extLst>
          </p:cNvPr>
          <p:cNvSpPr txBox="1"/>
          <p:nvPr/>
        </p:nvSpPr>
        <p:spPr>
          <a:xfrm>
            <a:off x="838200" y="5140359"/>
            <a:ext cx="27193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GDPR</a:t>
            </a:r>
          </a:p>
        </p:txBody>
      </p:sp>
    </p:spTree>
    <p:extLst>
      <p:ext uri="{BB962C8B-B14F-4D97-AF65-F5344CB8AC3E}">
        <p14:creationId xmlns:p14="http://schemas.microsoft.com/office/powerpoint/2010/main" val="4227152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CF73D-3C6B-DCC4-5120-A51F05195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Well can we use LinkedIn?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E42A8-3E5D-1E22-7DC5-C5FFFD173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Yes! There are several options.</a:t>
            </a:r>
          </a:p>
          <a:p>
            <a:pPr lvl="1"/>
            <a:r>
              <a:rPr lang="en-US" dirty="0" err="1"/>
              <a:t>Linkedin</a:t>
            </a:r>
            <a:r>
              <a:rPr lang="en-US" dirty="0"/>
              <a:t> Business Message ads: </a:t>
            </a:r>
            <a:r>
              <a:rPr lang="en-US" dirty="0">
                <a:hlinkClick r:id="rId2"/>
              </a:rPr>
              <a:t>https://business.linkedin.com/marketing-solutions/message-ads</a:t>
            </a:r>
            <a:endParaRPr lang="en-US" dirty="0"/>
          </a:p>
          <a:p>
            <a:pPr lvl="1"/>
            <a:r>
              <a:rPr lang="en-US" dirty="0"/>
              <a:t>LinkedIn Developer Sales API: </a:t>
            </a:r>
            <a:r>
              <a:rPr lang="en-US" dirty="0">
                <a:hlinkClick r:id="rId3"/>
              </a:rPr>
              <a:t>https://learn.microsoft.com/en-us/linkedin/sales/display-services/leads-screenshots#messaging</a:t>
            </a:r>
            <a:endParaRPr lang="en-US" dirty="0"/>
          </a:p>
          <a:p>
            <a:r>
              <a:rPr lang="en-US" dirty="0"/>
              <a:t>Messages to connections, InMail to new people</a:t>
            </a:r>
          </a:p>
          <a:p>
            <a:r>
              <a:rPr lang="en-US" dirty="0"/>
              <a:t>This will likely also pass into email inboxes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517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3102</TotalTime>
  <Words>781</Words>
  <Application>Microsoft Macintosh PowerPoint</Application>
  <PresentationFormat>Widescreen</PresentationFormat>
  <Paragraphs>96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Wingdings</vt:lpstr>
      <vt:lpstr>Office Theme</vt:lpstr>
      <vt:lpstr>27/02 Update Meeting</vt:lpstr>
      <vt:lpstr>Agenda</vt:lpstr>
      <vt:lpstr>Dataset structure</vt:lpstr>
      <vt:lpstr>Progress: completeness &amp; work needed</vt:lpstr>
      <vt:lpstr>A bit more about jobs…</vt:lpstr>
      <vt:lpstr>A bit more about papers…</vt:lpstr>
      <vt:lpstr>Report / analysis</vt:lpstr>
      <vt:lpstr>Website</vt:lpstr>
      <vt:lpstr>The future: maintaining a publications DB</vt:lpstr>
      <vt:lpstr>The future: maintaining a jobs DB</vt:lpstr>
      <vt:lpstr>More datasets</vt:lpstr>
      <vt:lpstr>Can I mass email people if I didn’t ask them if I could do that?</vt:lpstr>
      <vt:lpstr>Well can we use LinkedIn?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Ioana Duta</dc:creator>
  <cp:lastModifiedBy>Ioana Duta</cp:lastModifiedBy>
  <cp:revision>3</cp:revision>
  <dcterms:created xsi:type="dcterms:W3CDTF">2025-02-25T13:29:02Z</dcterms:created>
  <dcterms:modified xsi:type="dcterms:W3CDTF">2025-02-27T17:11:57Z</dcterms:modified>
</cp:coreProperties>
</file>